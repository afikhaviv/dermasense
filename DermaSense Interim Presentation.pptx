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6858000" cx="12192000"/>
  <p:notesSz cx="6858000" cy="9144000"/>
  <p:embeddedFontLst>
    <p:embeddedFont>
      <p:font typeface="DM Sans Medium"/>
      <p:regular r:id="rId13"/>
      <p:bold r:id="rId14"/>
      <p:italic r:id="rId15"/>
      <p:boldItalic r:id="rId16"/>
    </p:embeddedFont>
    <p:embeddedFont>
      <p:font typeface="Merriweather Medium"/>
      <p:regular r:id="rId17"/>
      <p:bold r:id="rId18"/>
      <p:italic r:id="rId19"/>
      <p:boldItalic r:id="rId20"/>
    </p:embeddedFont>
    <p:embeddedFont>
      <p:font typeface="Merriweather"/>
      <p:regular r:id="rId21"/>
      <p:bold r:id="rId22"/>
      <p:italic r:id="rId23"/>
      <p:boldItalic r:id="rId24"/>
    </p:embeddedFont>
    <p:embeddedFont>
      <p:font typeface="DM Sans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B3BDD3D-1DD3-4DB8-BC74-FA29EC2A5529}">
  <a:tblStyle styleId="{2B3BDD3D-1DD3-4DB8-BC74-FA29EC2A552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erriweatherMedium-boldItalic.fntdata"/><Relationship Id="rId22" Type="http://schemas.openxmlformats.org/officeDocument/2006/relationships/font" Target="fonts/Merriweather-bold.fntdata"/><Relationship Id="rId21" Type="http://schemas.openxmlformats.org/officeDocument/2006/relationships/font" Target="fonts/Merriweather-regular.fntdata"/><Relationship Id="rId24" Type="http://schemas.openxmlformats.org/officeDocument/2006/relationships/font" Target="fonts/Merriweather-boldItalic.fntdata"/><Relationship Id="rId23" Type="http://schemas.openxmlformats.org/officeDocument/2006/relationships/font" Target="fonts/Merriweather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DMSans-bold.fntdata"/><Relationship Id="rId25" Type="http://schemas.openxmlformats.org/officeDocument/2006/relationships/font" Target="fonts/DMSans-regular.fntdata"/><Relationship Id="rId28" Type="http://schemas.openxmlformats.org/officeDocument/2006/relationships/font" Target="fonts/DMSans-boldItalic.fntdata"/><Relationship Id="rId27" Type="http://schemas.openxmlformats.org/officeDocument/2006/relationships/font" Target="fonts/DMSans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DMSansMedium-regular.fntdata"/><Relationship Id="rId12" Type="http://schemas.openxmlformats.org/officeDocument/2006/relationships/slide" Target="slides/slide6.xml"/><Relationship Id="rId15" Type="http://schemas.openxmlformats.org/officeDocument/2006/relationships/font" Target="fonts/DMSansMedium-italic.fntdata"/><Relationship Id="rId14" Type="http://schemas.openxmlformats.org/officeDocument/2006/relationships/font" Target="fonts/DMSansMedium-bold.fntdata"/><Relationship Id="rId17" Type="http://schemas.openxmlformats.org/officeDocument/2006/relationships/font" Target="fonts/MerriweatherMedium-regular.fntdata"/><Relationship Id="rId16" Type="http://schemas.openxmlformats.org/officeDocument/2006/relationships/font" Target="fonts/DMSansMedium-boldItalic.fntdata"/><Relationship Id="rId19" Type="http://schemas.openxmlformats.org/officeDocument/2006/relationships/font" Target="fonts/MerriweatherMedium-italic.fntdata"/><Relationship Id="rId18" Type="http://schemas.openxmlformats.org/officeDocument/2006/relationships/font" Target="fonts/MerriweatherMedium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b4742b00c4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b4742b00c4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b4742b00c4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g3b4742b00c4_3_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10" Type="http://schemas.openxmlformats.org/officeDocument/2006/relationships/image" Target="../media/image18.png"/><Relationship Id="rId9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1.png"/><Relationship Id="rId7" Type="http://schemas.openxmlformats.org/officeDocument/2006/relationships/image" Target="../media/image5.png"/><Relationship Id="rId8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17.png"/><Relationship Id="rId5" Type="http://schemas.openxmlformats.org/officeDocument/2006/relationships/image" Target="../media/image15.png"/><Relationship Id="rId6" Type="http://schemas.openxmlformats.org/officeDocument/2006/relationships/image" Target="../media/image19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0.png"/><Relationship Id="rId4" Type="http://schemas.openxmlformats.org/officeDocument/2006/relationships/image" Target="../media/image7.png"/><Relationship Id="rId5" Type="http://schemas.openxmlformats.org/officeDocument/2006/relationships/image" Target="../media/image6.png"/><Relationship Id="rId6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84" name="Google Shape;8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" y="-6"/>
            <a:ext cx="12191409" cy="680450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4655275" y="3403000"/>
            <a:ext cx="2523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5088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Shir </a:t>
            </a:r>
            <a:r>
              <a:rPr b="0" i="0" lang="en-US" sz="2400" u="none" cap="none" strike="noStrike">
                <a:solidFill>
                  <a:srgbClr val="005088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Molakandove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806887" y="1422597"/>
            <a:ext cx="62007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DermaSense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621025" y="2890402"/>
            <a:ext cx="6572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AI-Powered Skin Lesion Analysis &amp; Bias Mitigation</a:t>
            </a:r>
            <a:endParaRPr/>
          </a:p>
        </p:txBody>
      </p:sp>
      <p:sp>
        <p:nvSpPr>
          <p:cNvPr id="88" name="Google Shape;88;p13"/>
          <p:cNvSpPr/>
          <p:nvPr/>
        </p:nvSpPr>
        <p:spPr>
          <a:xfrm>
            <a:off x="4438475" y="3732825"/>
            <a:ext cx="2202000" cy="429900"/>
          </a:xfrm>
          <a:prstGeom prst="rect">
            <a:avLst/>
          </a:prstGeom>
          <a:solidFill>
            <a:srgbClr val="F1ED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7754700" y="3403000"/>
            <a:ext cx="165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5088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Romi Yosef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2415800" y="3403000"/>
            <a:ext cx="161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5088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Afik Haviv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5" name="Google Shape;95;p14"/>
          <p:cNvPicPr preferRelativeResize="0"/>
          <p:nvPr/>
        </p:nvPicPr>
        <p:blipFill rotWithShape="1">
          <a:blip r:embed="rId3">
            <a:alphaModFix/>
          </a:blip>
          <a:srcRect b="-31926" l="0" r="0" t="0"/>
          <a:stretch/>
        </p:blipFill>
        <p:spPr>
          <a:xfrm>
            <a:off x="571575" y="1455390"/>
            <a:ext cx="3492400" cy="54026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9725" y="1455398"/>
            <a:ext cx="3492550" cy="4116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28025" y="1455398"/>
            <a:ext cx="3492400" cy="4116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7325" y="179829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857325" y="2560290"/>
            <a:ext cx="3066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Motivation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857325" y="3046065"/>
            <a:ext cx="29208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The Gap: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Medical datasets are severely biased towards light skin, causing AI to fail on darker skin tones.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857325" y="4255740"/>
            <a:ext cx="2920800" cy="8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The Goal: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Eliminate this bias using synthetic data to ensure equitable cancer detection.</a:t>
            </a:r>
            <a:endParaRPr/>
          </a:p>
        </p:txBody>
      </p:sp>
      <p:pic>
        <p:nvPicPr>
          <p:cNvPr descr="image.png" id="102" name="Google Shape;102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35475" y="179829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4635475" y="2560290"/>
            <a:ext cx="3067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Evolution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4635475" y="3046065"/>
            <a:ext cx="2921100" cy="8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From Proposal: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Shifted from simple "data generation" to a rigorous </a:t>
            </a:r>
            <a:r>
              <a:rPr b="1" i="0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Validation Pipeline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4635475" y="3989040"/>
            <a:ext cx="29211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The Pivot: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We now prove utility by training two models (Biased vs. Diverse) in a head-to-head comparison.</a:t>
            </a:r>
            <a:endParaRPr/>
          </a:p>
        </p:txBody>
      </p:sp>
      <p:pic>
        <p:nvPicPr>
          <p:cNvPr descr="image.png" id="106" name="Google Shape;106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13775" y="179829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8413775" y="2560290"/>
            <a:ext cx="3066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Novelty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8413775" y="3046065"/>
            <a:ext cx="29208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Innovation: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A safe </a:t>
            </a:r>
            <a:r>
              <a:rPr b="1" i="0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Hybrid Pipeline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(SDXL Texture + Poisson Blending) that avoids hallucinations.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8413775" y="4255740"/>
            <a:ext cx="2920800" cy="8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Contribution: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Created a high-fidelity "Digital Skin Bank" for Fitzpatrick Type VI.</a:t>
            </a:r>
            <a:endParaRPr/>
          </a:p>
        </p:txBody>
      </p:sp>
      <p:pic>
        <p:nvPicPr>
          <p:cNvPr descr="image.png" id="110" name="Google Shape;110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28775" y="196974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821213" y="1969740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613800" y="1969740"/>
            <a:ext cx="1714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4"/>
          <p:cNvSpPr txBox="1"/>
          <p:nvPr/>
        </p:nvSpPr>
        <p:spPr>
          <a:xfrm>
            <a:off x="571500" y="381000"/>
            <a:ext cx="11601450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Project Review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8" name="Google Shape;118;p15"/>
          <p:cNvGraphicFramePr/>
          <p:nvPr/>
        </p:nvGraphicFramePr>
        <p:xfrm>
          <a:off x="571500" y="217423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{2B3BDD3D-1DD3-4DB8-BC74-FA29EC2A5529}</a:tableStyleId>
              </a:tblPr>
              <a:tblGrid>
                <a:gridCol w="2426500"/>
                <a:gridCol w="1323525"/>
                <a:gridCol w="1654375"/>
                <a:gridCol w="1433800"/>
                <a:gridCol w="1654375"/>
                <a:gridCol w="2537375"/>
              </a:tblGrid>
              <a:tr h="800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u="none" cap="none" strike="noStrike">
                          <a:solidFill>
                            <a:srgbClr val="FFFFFF"/>
                          </a:solidFill>
                          <a:latin typeface="DM Sans Medium"/>
                          <a:ea typeface="DM Sans Medium"/>
                          <a:cs typeface="DM Sans Medium"/>
                          <a:sym typeface="DM Sans Medium"/>
                        </a:rPr>
                        <a:t>Title / Year</a:t>
                      </a:r>
                      <a:endParaRPr sz="19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u="none" cap="none" strike="noStrike">
                          <a:solidFill>
                            <a:srgbClr val="FFFFFF"/>
                          </a:solidFill>
                          <a:latin typeface="DM Sans Medium"/>
                          <a:ea typeface="DM Sans Medium"/>
                          <a:cs typeface="DM Sans Medium"/>
                          <a:sym typeface="DM Sans Medium"/>
                        </a:rPr>
                        <a:t>Task</a:t>
                      </a:r>
                      <a:endParaRPr sz="19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u="none" cap="none" strike="noStrike">
                          <a:solidFill>
                            <a:srgbClr val="FFFFFF"/>
                          </a:solidFill>
                          <a:latin typeface="DM Sans Medium"/>
                          <a:ea typeface="DM Sans Medium"/>
                          <a:cs typeface="DM Sans Medium"/>
                          <a:sym typeface="DM Sans Medium"/>
                        </a:rPr>
                        <a:t>Methods</a:t>
                      </a:r>
                      <a:endParaRPr sz="19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u="none" cap="none" strike="noStrike">
                          <a:solidFill>
                            <a:srgbClr val="FFFFFF"/>
                          </a:solidFill>
                          <a:latin typeface="DM Sans Medium"/>
                          <a:ea typeface="DM Sans Medium"/>
                          <a:cs typeface="DM Sans Medium"/>
                          <a:sym typeface="DM Sans Medium"/>
                        </a:rPr>
                        <a:t>Data</a:t>
                      </a:r>
                      <a:endParaRPr sz="19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u="none" cap="none" strike="noStrike">
                          <a:solidFill>
                            <a:srgbClr val="FFFFFF"/>
                          </a:solidFill>
                          <a:latin typeface="DM Sans Medium"/>
                          <a:ea typeface="DM Sans Medium"/>
                          <a:cs typeface="DM Sans Medium"/>
                          <a:sym typeface="DM Sans Medium"/>
                        </a:rPr>
                        <a:t>Results</a:t>
                      </a:r>
                      <a:endParaRPr sz="19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FFFFF"/>
                          </a:solidFill>
                          <a:latin typeface="DM Sans Medium"/>
                          <a:ea typeface="DM Sans Medium"/>
                          <a:cs typeface="DM Sans Medium"/>
                          <a:sym typeface="DM Sans Medium"/>
                        </a:rPr>
                        <a:t>Relation to Project</a:t>
                      </a:r>
                      <a:endParaRPr sz="20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</a:tr>
              <a:tr h="800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Dermatologist-level classification of skin cancer...</a:t>
                      </a:r>
                      <a:r>
                        <a:rPr b="0" i="0" lang="en-US" sz="975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Esteva et al. (2017)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Binary Classification (Benign vs. Malignant)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Deep CNN (Inception v3), Transfer Learning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129,450 clinical images (Private dataset)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AUC comparable to 21 board-certified dermatologists.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Serves as the </a:t>
                      </a:r>
                      <a:r>
                        <a:rPr b="1" i="0" lang="en-US" sz="975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Benchmark</a:t>
                      </a:r>
                      <a:r>
                        <a:rPr b="0" i="0" lang="en-US" sz="975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for deep learning performance capabilities.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800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Synthetic Data Augmentation using GANs...</a:t>
                      </a:r>
                      <a:r>
                        <a:rPr b="0" i="0" lang="en-US" sz="975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Rashid et al. (2020)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Dataset Expansion via Synthesis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Generative Adversarial Networks (GANs)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ISIC Public Dataset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Increased accuracy and reduced overfitting.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Foundational </a:t>
                      </a:r>
                      <a:r>
                        <a:rPr b="1" i="0" lang="en-US" sz="975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Method</a:t>
                      </a:r>
                      <a:r>
                        <a:rPr b="0" i="0" lang="en-US" sz="975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: Validates using synthetic data to fill data gaps.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800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Addressing Bias in Skin Cancer Classification...</a:t>
                      </a:r>
                      <a:r>
                        <a:rPr b="0" i="0" lang="en-US" sz="975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Daneshjou et al. (2022)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Bias Evaluation &amp; Reduction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Tone-focused data augmentation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Diverse sets (Western + Asian + African)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Diversity corrects error rates on darker skin.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Core </a:t>
                      </a:r>
                      <a:r>
                        <a:rPr b="1" i="0" lang="en-US" sz="975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Innovation</a:t>
                      </a:r>
                      <a:r>
                        <a:rPr b="0" i="0" lang="en-US" sz="975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: Inspires our focus on synthetic dark skin to ensure fairness.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9" name="Google Shape;119;p15"/>
          <p:cNvSpPr txBox="1"/>
          <p:nvPr/>
        </p:nvSpPr>
        <p:spPr>
          <a:xfrm>
            <a:off x="571500" y="381000"/>
            <a:ext cx="11601450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Previous Work &amp; Literature Review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4" name="Google Shape;12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074390"/>
            <a:ext cx="3492400" cy="2314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9650" y="1074390"/>
            <a:ext cx="3492549" cy="2314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27950" y="1074390"/>
            <a:ext cx="3492400" cy="2314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72400" y="6096000"/>
            <a:ext cx="363855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579465"/>
            <a:ext cx="11049000" cy="28975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90550" y="3598515"/>
            <a:ext cx="11010900" cy="2859434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6"/>
          <p:cNvSpPr txBox="1"/>
          <p:nvPr/>
        </p:nvSpPr>
        <p:spPr>
          <a:xfrm>
            <a:off x="809625" y="1264890"/>
            <a:ext cx="3216964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1. The Dataset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809625" y="1598265"/>
            <a:ext cx="30637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Goal: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Correct bias in ISIC 2016.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4587775" y="1264890"/>
            <a:ext cx="321712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2. Techniques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4587775" y="1598265"/>
            <a:ext cx="306392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Hybrid AI Pipeline: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8366075" y="1264890"/>
            <a:ext cx="3216964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3. EDA (Exploratory Data Analysis)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942975" y="1826865"/>
            <a:ext cx="571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1000125" y="1826865"/>
            <a:ext cx="28732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Generated: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Synthetic extension for </a:t>
            </a:r>
            <a:r>
              <a:rPr b="1" i="0" lang="en-U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Fitzpatrick Type VI</a:t>
            </a:r>
            <a:r>
              <a:rPr b="0" i="0" lang="en-U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(Dark Skin).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942975" y="2284065"/>
            <a:ext cx="571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1000125" y="2284065"/>
            <a:ext cx="28732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Composition: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Merged Original lesions with synthetic dark backgrounds.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4721125" y="1826865"/>
            <a:ext cx="571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4778275" y="1826865"/>
            <a:ext cx="287342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Generation: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SDXL 1.0 (Texture) + Medical Prompting.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4721125" y="2284065"/>
            <a:ext cx="571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4778275" y="2284065"/>
            <a:ext cx="287342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Segmentation: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U²-Net (Rembg) for precise masks.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4721125" y="2741265"/>
            <a:ext cx="571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4778275" y="2741265"/>
            <a:ext cx="287342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Blending: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Poisson editing for seamless integration.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8499425" y="1836390"/>
            <a:ext cx="571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8556575" y="1836390"/>
            <a:ext cx="28732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Class Balance: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Perfect 50/50 split (Benign/Malignant).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8499425" y="2293590"/>
            <a:ext cx="571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8556575" y="2293590"/>
            <a:ext cx="28732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Resolution: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Generated @ 1024px → Resized to 224px.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571500" y="381000"/>
            <a:ext cx="11601450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Dataset Creation &amp; Analysis</a:t>
            </a:r>
            <a:endParaRPr/>
          </a:p>
        </p:txBody>
      </p:sp>
      <p:pic>
        <p:nvPicPr>
          <p:cNvPr id="150" name="Google Shape;150;p1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71500" y="3579475"/>
            <a:ext cx="11049001" cy="299282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5" name="Google Shape;15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6225" y="4939845"/>
            <a:ext cx="5334000" cy="1724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18600" y="4939845"/>
            <a:ext cx="5334000" cy="1724025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7"/>
          <p:cNvSpPr txBox="1"/>
          <p:nvPr/>
        </p:nvSpPr>
        <p:spPr>
          <a:xfrm>
            <a:off x="571500" y="381000"/>
            <a:ext cx="11601450" cy="565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Evaluation Results: Dark Skin Test Set</a:t>
            </a:r>
            <a:endParaRPr/>
          </a:p>
        </p:txBody>
      </p:sp>
      <p:graphicFrame>
        <p:nvGraphicFramePr>
          <p:cNvPr id="158" name="Google Shape;158;p17"/>
          <p:cNvGraphicFramePr/>
          <p:nvPr/>
        </p:nvGraphicFramePr>
        <p:xfrm>
          <a:off x="571500" y="123244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{2B3BDD3D-1DD3-4DB8-BC74-FA29EC2A5529}</a:tableStyleId>
              </a:tblPr>
              <a:tblGrid>
                <a:gridCol w="2762250"/>
                <a:gridCol w="2762250"/>
                <a:gridCol w="2762250"/>
                <a:gridCol w="2762250"/>
              </a:tblGrid>
              <a:tr h="885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950" u="none" cap="none" strike="noStrike">
                          <a:solidFill>
                            <a:srgbClr val="005088"/>
                          </a:solidFill>
                          <a:latin typeface="Merriweather Medium"/>
                          <a:ea typeface="Merriweather Medium"/>
                          <a:cs typeface="Merriweather Medium"/>
                          <a:sym typeface="Merriweather Medium"/>
                        </a:rPr>
                        <a:t>Metric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950" u="none" cap="none" strike="noStrike">
                          <a:solidFill>
                            <a:srgbClr val="FFFFFF"/>
                          </a:solidFill>
                          <a:latin typeface="Merriweather Medium"/>
                          <a:ea typeface="Merriweather Medium"/>
                          <a:cs typeface="Merriweather Medium"/>
                          <a:sym typeface="Merriweather Medium"/>
                        </a:rPr>
                        <a:t>Biased Model (Standard)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950" u="none" cap="none" strike="noStrike">
                          <a:solidFill>
                            <a:srgbClr val="FFFFFF"/>
                          </a:solidFill>
                          <a:latin typeface="Merriweather Medium"/>
                          <a:ea typeface="Merriweather Medium"/>
                          <a:cs typeface="Merriweather Medium"/>
                          <a:sym typeface="Merriweather Medium"/>
                        </a:rPr>
                        <a:t>Diverse Model (Ours)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950" u="none" cap="none" strike="noStrike">
                          <a:solidFill>
                            <a:srgbClr val="FFFFFF"/>
                          </a:solidFill>
                          <a:latin typeface="Merriweather Medium"/>
                          <a:ea typeface="Merriweather Medium"/>
                          <a:cs typeface="Merriweather Medium"/>
                          <a:sym typeface="Merriweather Medium"/>
                        </a:rPr>
                        <a:t>Improvement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</a:tr>
              <a:tr h="885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9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Accuracy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950" u="none" cap="none" strike="noStrike">
                          <a:solidFill>
                            <a:srgbClr val="EF4444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~82%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2100" u="none" cap="none" strike="noStrike">
                          <a:solidFill>
                            <a:srgbClr val="10B98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~95%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950" u="none" cap="none" strike="noStrike">
                          <a:solidFill>
                            <a:srgbClr val="04785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+13%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DF5"/>
                    </a:solidFill>
                  </a:tcPr>
                </a:tc>
              </a:tr>
              <a:tr h="885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9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Recall (Safety)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950" u="none" cap="none" strike="noStrike">
                          <a:solidFill>
                            <a:srgbClr val="EF4444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~54%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2100" u="none" cap="none" strike="noStrike">
                          <a:solidFill>
                            <a:srgbClr val="10B98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~96%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950" u="none" cap="none" strike="noStrike">
                          <a:solidFill>
                            <a:srgbClr val="04785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+42%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DF5"/>
                    </a:solidFill>
                  </a:tcPr>
                </a:tc>
              </a:tr>
              <a:tr h="885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9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F1-Score (Balance)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950" u="none" cap="none" strike="noStrike">
                          <a:solidFill>
                            <a:srgbClr val="EF4444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~52%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2100" u="none" cap="none" strike="noStrike">
                          <a:solidFill>
                            <a:srgbClr val="10B98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~92%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950" u="none" cap="none" strike="noStrike">
                          <a:solidFill>
                            <a:srgbClr val="04785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+40%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  <p:sp>
        <p:nvSpPr>
          <p:cNvPr id="159" name="Google Shape;159;p17"/>
          <p:cNvSpPr txBox="1"/>
          <p:nvPr/>
        </p:nvSpPr>
        <p:spPr>
          <a:xfrm>
            <a:off x="840550" y="5177970"/>
            <a:ext cx="4781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B91C1C"/>
                </a:solidFill>
                <a:latin typeface="Merriweather"/>
                <a:ea typeface="Merriweather"/>
                <a:cs typeface="Merriweather"/>
                <a:sym typeface="Merriweather"/>
              </a:rPr>
              <a:t>The Baseline Failure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840550" y="5568495"/>
            <a:ext cx="4781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The Standard Model achieved only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54% Recall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on dark skin, meaning it missed nearly half of the malignant cases, posing a significant safety risk.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6532925" y="5177970"/>
            <a:ext cx="4781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47857"/>
                </a:solidFill>
                <a:latin typeface="Merriweather"/>
                <a:ea typeface="Merriweather"/>
                <a:cs typeface="Merriweather"/>
                <a:sym typeface="Merriweather"/>
              </a:rPr>
              <a:t>The Diverse Success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6532925" y="5568495"/>
            <a:ext cx="4781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Our Diverse Model achieved a massive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96% Recall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, successfully identifying the vast majority of cancer cases, with a balanced F1-Score of 92%.</a:t>
            </a:r>
            <a:endParaRPr/>
          </a:p>
        </p:txBody>
      </p:sp>
      <p:sp>
        <p:nvSpPr>
          <p:cNvPr id="163" name="Google Shape;163;p17"/>
          <p:cNvSpPr/>
          <p:nvPr/>
        </p:nvSpPr>
        <p:spPr>
          <a:xfrm>
            <a:off x="571500" y="2965995"/>
            <a:ext cx="276225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7"/>
          <p:cNvSpPr/>
          <p:nvPr/>
        </p:nvSpPr>
        <p:spPr>
          <a:xfrm>
            <a:off x="3333750" y="2965995"/>
            <a:ext cx="276225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7"/>
          <p:cNvSpPr/>
          <p:nvPr/>
        </p:nvSpPr>
        <p:spPr>
          <a:xfrm>
            <a:off x="6096000" y="2965995"/>
            <a:ext cx="276225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7"/>
          <p:cNvSpPr/>
          <p:nvPr/>
        </p:nvSpPr>
        <p:spPr>
          <a:xfrm>
            <a:off x="8858250" y="2965995"/>
            <a:ext cx="276225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7"/>
          <p:cNvSpPr/>
          <p:nvPr/>
        </p:nvSpPr>
        <p:spPr>
          <a:xfrm>
            <a:off x="8858250" y="3870870"/>
            <a:ext cx="2762400" cy="192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68" name="Google Shape;168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0550" y="520654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32925" y="5206545"/>
            <a:ext cx="228600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4" name="Google Shape;17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5398740"/>
            <a:ext cx="11049000" cy="10858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5" name="Google Shape;175;p18"/>
          <p:cNvGraphicFramePr/>
          <p:nvPr/>
        </p:nvGraphicFramePr>
        <p:xfrm>
          <a:off x="571500" y="126489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{2B3BDD3D-1DD3-4DB8-BC74-FA29EC2A5529}</a:tableStyleId>
              </a:tblPr>
              <a:tblGrid>
                <a:gridCol w="2209800"/>
                <a:gridCol w="5524500"/>
                <a:gridCol w="1657350"/>
                <a:gridCol w="1657350"/>
              </a:tblGrid>
              <a:tr h="657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DM Sans Medium"/>
                          <a:ea typeface="DM Sans Medium"/>
                          <a:cs typeface="DM Sans Medium"/>
                          <a:sym typeface="DM Sans Medium"/>
                        </a:rPr>
                        <a:t>Step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DM Sans Medium"/>
                          <a:ea typeface="DM Sans Medium"/>
                          <a:cs typeface="DM Sans Medium"/>
                          <a:sym typeface="DM Sans Medium"/>
                        </a:rPr>
                        <a:t>Description / Scope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DM Sans Medium"/>
                          <a:ea typeface="DM Sans Medium"/>
                          <a:cs typeface="DM Sans Medium"/>
                          <a:sym typeface="DM Sans Medium"/>
                        </a:rPr>
                        <a:t>Status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DM Sans Medium"/>
                          <a:ea typeface="DM Sans Medium"/>
                          <a:cs typeface="DM Sans Medium"/>
                          <a:sym typeface="DM Sans Medium"/>
                        </a:rPr>
                        <a:t>Outcome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1. Bias Replication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Train standard ResNet50 on ISIC 2016 (Light Skin) and validate failure on dark skin test set.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0B98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Done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Baseline Metrics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7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2. Data Generation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Generate synthetic Fitzpatrick Type VI skin using </a:t>
                      </a: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SDXL</a:t>
                      </a: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. </a:t>
                      </a:r>
                      <a:r>
                        <a:rPr b="0" i="1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Scale up from pilot sample to full dataset.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59E0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Full Synthetic Dataset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3. Training &amp; Optimization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Train Diverse Model on mixed dataset using </a:t>
                      </a: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Class-Weighted Loss</a:t>
                      </a: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to penalize false negatives.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50">
                          <a:solidFill>
                            <a:srgbClr val="F59E0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b="1" sz="1350">
                        <a:solidFill>
                          <a:srgbClr val="3B82F6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Robust Model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7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4. Final Evaluation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Head-to-Head Comparison (F1-Score, Recall) on held-out Dark Skin Test Set.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B82F6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Next Step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Final Proof Graph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5. Final Delivery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Prepare final presentation, documentation, and code delivery.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B82F6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Pending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Project Completion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6" name="Google Shape;176;p18"/>
          <p:cNvSpPr txBox="1"/>
          <p:nvPr/>
        </p:nvSpPr>
        <p:spPr>
          <a:xfrm>
            <a:off x="762000" y="5713065"/>
            <a:ext cx="107156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Technical Scope &amp; Models: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PyTorch Framework • ResNet50 (Binary Classification) • Stable Diffusion XL (SDXL 1.0) for Texture Generation • U²-Net (Rembg) for Segmentation • OpenCV (Seamless Clone) for Image Compositing • Weighted Cross-Entropy Loss.</a:t>
            </a:r>
            <a:endParaRPr/>
          </a:p>
        </p:txBody>
      </p:sp>
      <p:sp>
        <p:nvSpPr>
          <p:cNvPr id="177" name="Google Shape;177;p18"/>
          <p:cNvSpPr/>
          <p:nvPr/>
        </p:nvSpPr>
        <p:spPr>
          <a:xfrm>
            <a:off x="571500" y="5193952"/>
            <a:ext cx="2209800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8"/>
          <p:cNvSpPr/>
          <p:nvPr/>
        </p:nvSpPr>
        <p:spPr>
          <a:xfrm>
            <a:off x="2781300" y="5193952"/>
            <a:ext cx="5524500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8"/>
          <p:cNvSpPr/>
          <p:nvPr/>
        </p:nvSpPr>
        <p:spPr>
          <a:xfrm>
            <a:off x="8305800" y="5193952"/>
            <a:ext cx="1657350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8"/>
          <p:cNvSpPr/>
          <p:nvPr/>
        </p:nvSpPr>
        <p:spPr>
          <a:xfrm>
            <a:off x="9963150" y="5193952"/>
            <a:ext cx="1657350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8"/>
          <p:cNvSpPr txBox="1"/>
          <p:nvPr/>
        </p:nvSpPr>
        <p:spPr>
          <a:xfrm>
            <a:off x="571500" y="381000"/>
            <a:ext cx="11601450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Project Roadmap &amp; Plan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